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notesMasterIdLst>
    <p:notesMasterId r:id="rId21"/>
  </p:notesMasterIdLst>
  <p:sldIdLst>
    <p:sldId id="256" r:id="rId4"/>
    <p:sldId id="258" r:id="rId5"/>
    <p:sldId id="259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74" r:id="rId14"/>
    <p:sldId id="275" r:id="rId15"/>
    <p:sldId id="276" r:id="rId16"/>
    <p:sldId id="277" r:id="rId17"/>
    <p:sldId id="271" r:id="rId18"/>
    <p:sldId id="272" r:id="rId19"/>
    <p:sldId id="27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30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27388B6-3AA5-4A17-B0F0-AF5AD3856E3B}" type="doc">
      <dgm:prSet loTypeId="urn:microsoft.com/office/officeart/2005/8/layout/default" loCatId="list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44F682D-76A0-43E7-9177-070F54AE06C7}">
      <dgm:prSet phldrT="[Text]"/>
      <dgm:spPr/>
      <dgm:t>
        <a:bodyPr/>
        <a:lstStyle/>
        <a:p>
          <a:pPr>
            <a:buNone/>
          </a:pPr>
          <a:r>
            <a:rPr lang="en-US" dirty="0">
              <a:solidFill>
                <a:schemeClr val="tx1"/>
              </a:solidFill>
              <a:latin typeface="Nunito Semi Bold" pitchFamily="34" charset="0"/>
              <a:ea typeface="Nunito Semi Bold" pitchFamily="34" charset="-122"/>
              <a:cs typeface="Nunito Semi Bold" pitchFamily="34" charset="-120"/>
            </a:rPr>
            <a:t>1. Project Overview &amp; Objective</a:t>
          </a:r>
          <a:endParaRPr lang="en-IN" dirty="0">
            <a:solidFill>
              <a:schemeClr val="tx1"/>
            </a:solidFill>
          </a:endParaRPr>
        </a:p>
      </dgm:t>
    </dgm:pt>
    <dgm:pt modelId="{B70AFD3C-7E36-4452-9D44-52941F86BFA7}" type="parTrans" cxnId="{ADBEBCC8-6184-4D5A-9883-598D2A4C0204}">
      <dgm:prSet/>
      <dgm:spPr/>
      <dgm:t>
        <a:bodyPr/>
        <a:lstStyle/>
        <a:p>
          <a:endParaRPr lang="en-IN"/>
        </a:p>
      </dgm:t>
    </dgm:pt>
    <dgm:pt modelId="{ABFCC5C4-7FF2-47E6-AD28-BDF5C01C6C8F}" type="sibTrans" cxnId="{ADBEBCC8-6184-4D5A-9883-598D2A4C0204}">
      <dgm:prSet/>
      <dgm:spPr/>
      <dgm:t>
        <a:bodyPr/>
        <a:lstStyle/>
        <a:p>
          <a:endParaRPr lang="en-IN"/>
        </a:p>
      </dgm:t>
    </dgm:pt>
    <dgm:pt modelId="{5180332A-16CF-40F8-9C9D-382303781BF7}">
      <dgm:prSet phldrT="[Text]"/>
      <dgm:spPr/>
      <dgm:t>
        <a:bodyPr/>
        <a:lstStyle/>
        <a:p>
          <a:pPr>
            <a:buNone/>
          </a:pPr>
          <a:r>
            <a:rPr lang="en-US" dirty="0">
              <a:solidFill>
                <a:schemeClr val="tx1"/>
              </a:solidFill>
              <a:latin typeface="Nunito Semi Bold" pitchFamily="34" charset="0"/>
              <a:ea typeface="Nunito Semi Bold" pitchFamily="34" charset="-122"/>
              <a:cs typeface="Nunito Semi Bold" pitchFamily="34" charset="-120"/>
            </a:rPr>
            <a:t>2. Data Cleaning and Modeling</a:t>
          </a:r>
          <a:endParaRPr lang="en-IN" dirty="0">
            <a:solidFill>
              <a:schemeClr val="tx1"/>
            </a:solidFill>
          </a:endParaRPr>
        </a:p>
      </dgm:t>
    </dgm:pt>
    <dgm:pt modelId="{D9A6FAC4-5BC1-464C-9BEA-A2A7E50F669F}" type="parTrans" cxnId="{5D153D5B-0DB7-4E19-959F-7D0467BC299E}">
      <dgm:prSet/>
      <dgm:spPr/>
      <dgm:t>
        <a:bodyPr/>
        <a:lstStyle/>
        <a:p>
          <a:endParaRPr lang="en-IN"/>
        </a:p>
      </dgm:t>
    </dgm:pt>
    <dgm:pt modelId="{22E42C32-E65B-406D-A6A1-36A8C8F85FEB}" type="sibTrans" cxnId="{5D153D5B-0DB7-4E19-959F-7D0467BC299E}">
      <dgm:prSet/>
      <dgm:spPr/>
      <dgm:t>
        <a:bodyPr/>
        <a:lstStyle/>
        <a:p>
          <a:endParaRPr lang="en-IN"/>
        </a:p>
      </dgm:t>
    </dgm:pt>
    <dgm:pt modelId="{85715FEF-22B8-49CB-BC62-2ACBFD9521E3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  <a:latin typeface="Nunito Semi Bold" panose="020B0604020202020204" charset="0"/>
            </a:rPr>
            <a:t>3. KPI LIST</a:t>
          </a:r>
          <a:endParaRPr lang="en-IN" dirty="0">
            <a:solidFill>
              <a:schemeClr val="tx1"/>
            </a:solidFill>
            <a:latin typeface="Nunito Semi Bold" panose="020B0604020202020204" charset="0"/>
          </a:endParaRPr>
        </a:p>
      </dgm:t>
    </dgm:pt>
    <dgm:pt modelId="{F74A96F7-31B8-462C-912D-CBD1F859D9BF}" type="parTrans" cxnId="{E08D74FE-621E-47D0-90A5-BF6A360BAE16}">
      <dgm:prSet/>
      <dgm:spPr/>
      <dgm:t>
        <a:bodyPr/>
        <a:lstStyle/>
        <a:p>
          <a:endParaRPr lang="en-IN"/>
        </a:p>
      </dgm:t>
    </dgm:pt>
    <dgm:pt modelId="{38523769-ADAD-4DE1-A733-5B4A7EBE8554}" type="sibTrans" cxnId="{E08D74FE-621E-47D0-90A5-BF6A360BAE16}">
      <dgm:prSet/>
      <dgm:spPr/>
      <dgm:t>
        <a:bodyPr/>
        <a:lstStyle/>
        <a:p>
          <a:endParaRPr lang="en-IN"/>
        </a:p>
      </dgm:t>
    </dgm:pt>
    <dgm:pt modelId="{6A12A3AD-2FEE-4E7E-95F4-DAE6E1E511E9}">
      <dgm:prSet phldrT="[Text]"/>
      <dgm:spPr/>
      <dgm:t>
        <a:bodyPr/>
        <a:lstStyle/>
        <a:p>
          <a:r>
            <a:rPr lang="en-US" dirty="0">
              <a:solidFill>
                <a:schemeClr val="tx1"/>
              </a:solidFill>
              <a:latin typeface="Nunito Semi Bold" pitchFamily="34" charset="0"/>
              <a:ea typeface="Nunito Semi Bold" pitchFamily="34" charset="-122"/>
              <a:cs typeface="Nunito Semi Bold" pitchFamily="34" charset="-120"/>
            </a:rPr>
            <a:t>4. Dashboard Presentation</a:t>
          </a:r>
          <a:endParaRPr lang="en-US" dirty="0">
            <a:solidFill>
              <a:schemeClr val="tx1"/>
            </a:solidFill>
          </a:endParaRPr>
        </a:p>
        <a:p>
          <a:endParaRPr lang="en-IN" dirty="0">
            <a:solidFill>
              <a:schemeClr val="tx1"/>
            </a:solidFill>
          </a:endParaRPr>
        </a:p>
      </dgm:t>
    </dgm:pt>
    <dgm:pt modelId="{C3FC567E-3269-47D4-A1A8-298E7627255E}" type="parTrans" cxnId="{168890DE-71A2-4705-87B7-380DCF067D80}">
      <dgm:prSet/>
      <dgm:spPr/>
      <dgm:t>
        <a:bodyPr/>
        <a:lstStyle/>
        <a:p>
          <a:endParaRPr lang="en-IN"/>
        </a:p>
      </dgm:t>
    </dgm:pt>
    <dgm:pt modelId="{C832D090-64C5-4E6C-ACC6-999DC6329F8E}" type="sibTrans" cxnId="{168890DE-71A2-4705-87B7-380DCF067D80}">
      <dgm:prSet/>
      <dgm:spPr/>
      <dgm:t>
        <a:bodyPr/>
        <a:lstStyle/>
        <a:p>
          <a:endParaRPr lang="en-IN"/>
        </a:p>
      </dgm:t>
    </dgm:pt>
    <dgm:pt modelId="{079543E6-DA1D-4EE3-A590-3B7388D7135E}">
      <dgm:prSet phldrT="[Text]"/>
      <dgm:spPr/>
      <dgm:t>
        <a:bodyPr/>
        <a:lstStyle/>
        <a:p>
          <a:pPr>
            <a:buNone/>
          </a:pPr>
          <a:r>
            <a:rPr lang="en-US" dirty="0">
              <a:solidFill>
                <a:schemeClr val="tx1"/>
              </a:solidFill>
              <a:latin typeface="Nunito Semi Bold" panose="020B0604020202020204" charset="0"/>
            </a:rPr>
            <a:t>5. Challenges Faced</a:t>
          </a:r>
          <a:endParaRPr lang="en-IN" dirty="0">
            <a:solidFill>
              <a:schemeClr val="tx1"/>
            </a:solidFill>
            <a:latin typeface="Nunito Semi Bold" panose="020B0604020202020204" charset="0"/>
          </a:endParaRPr>
        </a:p>
      </dgm:t>
    </dgm:pt>
    <dgm:pt modelId="{B6776827-065A-47D4-ABC6-794F2785B3EC}" type="parTrans" cxnId="{FFBDE4A8-2C54-425C-8C0F-5C9DF2CF8507}">
      <dgm:prSet/>
      <dgm:spPr/>
      <dgm:t>
        <a:bodyPr/>
        <a:lstStyle/>
        <a:p>
          <a:endParaRPr lang="en-IN"/>
        </a:p>
      </dgm:t>
    </dgm:pt>
    <dgm:pt modelId="{0307BD27-BCD3-460B-BE38-ED9F927FFE85}" type="sibTrans" cxnId="{FFBDE4A8-2C54-425C-8C0F-5C9DF2CF8507}">
      <dgm:prSet/>
      <dgm:spPr/>
      <dgm:t>
        <a:bodyPr/>
        <a:lstStyle/>
        <a:p>
          <a:endParaRPr lang="en-IN"/>
        </a:p>
      </dgm:t>
    </dgm:pt>
    <dgm:pt modelId="{370D70BF-C80B-4DB5-8215-A628F9EEAB24}">
      <dgm:prSet/>
      <dgm:spPr/>
      <dgm:t>
        <a:bodyPr/>
        <a:lstStyle/>
        <a:p>
          <a:r>
            <a:rPr lang="en-IN" dirty="0">
              <a:solidFill>
                <a:schemeClr val="tx1"/>
              </a:solidFill>
              <a:latin typeface="Nunito Semi Bold" panose="020B0604020202020204" charset="0"/>
            </a:rPr>
            <a:t>6. Solutions Implemented</a:t>
          </a:r>
        </a:p>
      </dgm:t>
    </dgm:pt>
    <dgm:pt modelId="{C5F6CD09-EE35-471B-94BB-C1960B611DF1}" type="parTrans" cxnId="{7F7618F2-1C96-4FFD-9500-9B1D8DD58F8B}">
      <dgm:prSet/>
      <dgm:spPr/>
      <dgm:t>
        <a:bodyPr/>
        <a:lstStyle/>
        <a:p>
          <a:endParaRPr lang="en-IN"/>
        </a:p>
      </dgm:t>
    </dgm:pt>
    <dgm:pt modelId="{5D0F8D07-5306-46B5-ABAD-555D1ED26193}" type="sibTrans" cxnId="{7F7618F2-1C96-4FFD-9500-9B1D8DD58F8B}">
      <dgm:prSet/>
      <dgm:spPr/>
      <dgm:t>
        <a:bodyPr/>
        <a:lstStyle/>
        <a:p>
          <a:endParaRPr lang="en-IN"/>
        </a:p>
      </dgm:t>
    </dgm:pt>
    <dgm:pt modelId="{EF74AD56-1E04-4EFC-98DB-F1B7CD3A2D39}">
      <dgm:prSet/>
      <dgm:spPr/>
      <dgm:t>
        <a:bodyPr/>
        <a:lstStyle/>
        <a:p>
          <a:r>
            <a:rPr lang="en-IN" dirty="0">
              <a:solidFill>
                <a:schemeClr val="tx1"/>
              </a:solidFill>
              <a:latin typeface="Nunito Semi Bold" panose="020B0604020202020204" charset="0"/>
            </a:rPr>
            <a:t>7. Conclusion</a:t>
          </a:r>
        </a:p>
      </dgm:t>
    </dgm:pt>
    <dgm:pt modelId="{53267E35-F6B5-4D41-B702-DFDD23C40B2A}" type="parTrans" cxnId="{34D7B926-BE6D-491F-A534-F0F3B545F030}">
      <dgm:prSet/>
      <dgm:spPr/>
      <dgm:t>
        <a:bodyPr/>
        <a:lstStyle/>
        <a:p>
          <a:endParaRPr lang="en-IN"/>
        </a:p>
      </dgm:t>
    </dgm:pt>
    <dgm:pt modelId="{474D5039-328D-4C53-BC80-CE0E4767FB19}" type="sibTrans" cxnId="{34D7B926-BE6D-491F-A534-F0F3B545F030}">
      <dgm:prSet/>
      <dgm:spPr/>
      <dgm:t>
        <a:bodyPr/>
        <a:lstStyle/>
        <a:p>
          <a:endParaRPr lang="en-IN"/>
        </a:p>
      </dgm:t>
    </dgm:pt>
    <dgm:pt modelId="{657747E3-5F2D-47B3-86C0-A8422FD36E08}" type="pres">
      <dgm:prSet presAssocID="{127388B6-3AA5-4A17-B0F0-AF5AD3856E3B}" presName="diagram" presStyleCnt="0">
        <dgm:presLayoutVars>
          <dgm:dir/>
          <dgm:resizeHandles val="exact"/>
        </dgm:presLayoutVars>
      </dgm:prSet>
      <dgm:spPr/>
    </dgm:pt>
    <dgm:pt modelId="{2C389A80-C004-40F6-B7F3-1E2C9D8B4439}" type="pres">
      <dgm:prSet presAssocID="{644F682D-76A0-43E7-9177-070F54AE06C7}" presName="node" presStyleLbl="node1" presStyleIdx="0" presStyleCnt="7">
        <dgm:presLayoutVars>
          <dgm:bulletEnabled val="1"/>
        </dgm:presLayoutVars>
      </dgm:prSet>
      <dgm:spPr/>
    </dgm:pt>
    <dgm:pt modelId="{17B1A03D-488D-4C6B-8306-8E1A62337BC0}" type="pres">
      <dgm:prSet presAssocID="{ABFCC5C4-7FF2-47E6-AD28-BDF5C01C6C8F}" presName="sibTrans" presStyleCnt="0"/>
      <dgm:spPr/>
    </dgm:pt>
    <dgm:pt modelId="{96E142EA-375F-42FD-A569-C9CA0A321513}" type="pres">
      <dgm:prSet presAssocID="{5180332A-16CF-40F8-9C9D-382303781BF7}" presName="node" presStyleLbl="node1" presStyleIdx="1" presStyleCnt="7">
        <dgm:presLayoutVars>
          <dgm:bulletEnabled val="1"/>
        </dgm:presLayoutVars>
      </dgm:prSet>
      <dgm:spPr/>
    </dgm:pt>
    <dgm:pt modelId="{400840C5-E276-4CA1-A4F0-77AF83CB6C59}" type="pres">
      <dgm:prSet presAssocID="{22E42C32-E65B-406D-A6A1-36A8C8F85FEB}" presName="sibTrans" presStyleCnt="0"/>
      <dgm:spPr/>
    </dgm:pt>
    <dgm:pt modelId="{A35653C1-65C8-4CA2-8640-51FE9F020BC6}" type="pres">
      <dgm:prSet presAssocID="{85715FEF-22B8-49CB-BC62-2ACBFD9521E3}" presName="node" presStyleLbl="node1" presStyleIdx="2" presStyleCnt="7">
        <dgm:presLayoutVars>
          <dgm:bulletEnabled val="1"/>
        </dgm:presLayoutVars>
      </dgm:prSet>
      <dgm:spPr/>
    </dgm:pt>
    <dgm:pt modelId="{6A0EF164-3154-4638-9DB5-227D47B2D4AF}" type="pres">
      <dgm:prSet presAssocID="{38523769-ADAD-4DE1-A733-5B4A7EBE8554}" presName="sibTrans" presStyleCnt="0"/>
      <dgm:spPr/>
    </dgm:pt>
    <dgm:pt modelId="{5A1A706C-C872-4299-90E7-B9FAC8DA7599}" type="pres">
      <dgm:prSet presAssocID="{6A12A3AD-2FEE-4E7E-95F4-DAE6E1E511E9}" presName="node" presStyleLbl="node1" presStyleIdx="3" presStyleCnt="7">
        <dgm:presLayoutVars>
          <dgm:bulletEnabled val="1"/>
        </dgm:presLayoutVars>
      </dgm:prSet>
      <dgm:spPr/>
    </dgm:pt>
    <dgm:pt modelId="{C9BC19E0-8C56-42C2-9620-8D666E34A535}" type="pres">
      <dgm:prSet presAssocID="{C832D090-64C5-4E6C-ACC6-999DC6329F8E}" presName="sibTrans" presStyleCnt="0"/>
      <dgm:spPr/>
    </dgm:pt>
    <dgm:pt modelId="{50375155-7CEC-405C-9008-D625E6E219DD}" type="pres">
      <dgm:prSet presAssocID="{079543E6-DA1D-4EE3-A590-3B7388D7135E}" presName="node" presStyleLbl="node1" presStyleIdx="4" presStyleCnt="7" custLinFactNeighborX="0">
        <dgm:presLayoutVars>
          <dgm:bulletEnabled val="1"/>
        </dgm:presLayoutVars>
      </dgm:prSet>
      <dgm:spPr/>
    </dgm:pt>
    <dgm:pt modelId="{03520486-8EDB-43F0-BD8F-B2F741EDE74E}" type="pres">
      <dgm:prSet presAssocID="{0307BD27-BCD3-460B-BE38-ED9F927FFE85}" presName="sibTrans" presStyleCnt="0"/>
      <dgm:spPr/>
    </dgm:pt>
    <dgm:pt modelId="{BC7E0311-2C66-4B14-BF6C-4451AEC47CA6}" type="pres">
      <dgm:prSet presAssocID="{370D70BF-C80B-4DB5-8215-A628F9EEAB24}" presName="node" presStyleLbl="node1" presStyleIdx="5" presStyleCnt="7">
        <dgm:presLayoutVars>
          <dgm:bulletEnabled val="1"/>
        </dgm:presLayoutVars>
      </dgm:prSet>
      <dgm:spPr/>
    </dgm:pt>
    <dgm:pt modelId="{FF68BAF4-F557-4501-BADD-960D0161C2CA}" type="pres">
      <dgm:prSet presAssocID="{5D0F8D07-5306-46B5-ABAD-555D1ED26193}" presName="sibTrans" presStyleCnt="0"/>
      <dgm:spPr/>
    </dgm:pt>
    <dgm:pt modelId="{0C2E8021-B9DE-480B-8B70-34CF06CB7D50}" type="pres">
      <dgm:prSet presAssocID="{EF74AD56-1E04-4EFC-98DB-F1B7CD3A2D39}" presName="node" presStyleLbl="node1" presStyleIdx="6" presStyleCnt="7">
        <dgm:presLayoutVars>
          <dgm:bulletEnabled val="1"/>
        </dgm:presLayoutVars>
      </dgm:prSet>
      <dgm:spPr/>
    </dgm:pt>
  </dgm:ptLst>
  <dgm:cxnLst>
    <dgm:cxn modelId="{34D7B926-BE6D-491F-A534-F0F3B545F030}" srcId="{127388B6-3AA5-4A17-B0F0-AF5AD3856E3B}" destId="{EF74AD56-1E04-4EFC-98DB-F1B7CD3A2D39}" srcOrd="6" destOrd="0" parTransId="{53267E35-F6B5-4D41-B702-DFDD23C40B2A}" sibTransId="{474D5039-328D-4C53-BC80-CE0E4767FB19}"/>
    <dgm:cxn modelId="{5D153D5B-0DB7-4E19-959F-7D0467BC299E}" srcId="{127388B6-3AA5-4A17-B0F0-AF5AD3856E3B}" destId="{5180332A-16CF-40F8-9C9D-382303781BF7}" srcOrd="1" destOrd="0" parTransId="{D9A6FAC4-5BC1-464C-9BEA-A2A7E50F669F}" sibTransId="{22E42C32-E65B-406D-A6A1-36A8C8F85FEB}"/>
    <dgm:cxn modelId="{94B7135F-7D66-4AFD-838B-35CEA38816E0}" type="presOf" srcId="{079543E6-DA1D-4EE3-A590-3B7388D7135E}" destId="{50375155-7CEC-405C-9008-D625E6E219DD}" srcOrd="0" destOrd="0" presId="urn:microsoft.com/office/officeart/2005/8/layout/default"/>
    <dgm:cxn modelId="{3C2D1169-EC20-4CB8-849C-B27DC60E350E}" type="presOf" srcId="{85715FEF-22B8-49CB-BC62-2ACBFD9521E3}" destId="{A35653C1-65C8-4CA2-8640-51FE9F020BC6}" srcOrd="0" destOrd="0" presId="urn:microsoft.com/office/officeart/2005/8/layout/default"/>
    <dgm:cxn modelId="{7B09DA6A-29C6-45EB-B59A-672D235DD3F8}" type="presOf" srcId="{370D70BF-C80B-4DB5-8215-A628F9EEAB24}" destId="{BC7E0311-2C66-4B14-BF6C-4451AEC47CA6}" srcOrd="0" destOrd="0" presId="urn:microsoft.com/office/officeart/2005/8/layout/default"/>
    <dgm:cxn modelId="{6A9ADB56-1201-4344-8B58-8E2E72423A58}" type="presOf" srcId="{6A12A3AD-2FEE-4E7E-95F4-DAE6E1E511E9}" destId="{5A1A706C-C872-4299-90E7-B9FAC8DA7599}" srcOrd="0" destOrd="0" presId="urn:microsoft.com/office/officeart/2005/8/layout/default"/>
    <dgm:cxn modelId="{6B3B527F-7345-4AD0-829C-E0F663670F5A}" type="presOf" srcId="{644F682D-76A0-43E7-9177-070F54AE06C7}" destId="{2C389A80-C004-40F6-B7F3-1E2C9D8B4439}" srcOrd="0" destOrd="0" presId="urn:microsoft.com/office/officeart/2005/8/layout/default"/>
    <dgm:cxn modelId="{33002186-1DD3-4B04-BCBA-2914C91108FF}" type="presOf" srcId="{EF74AD56-1E04-4EFC-98DB-F1B7CD3A2D39}" destId="{0C2E8021-B9DE-480B-8B70-34CF06CB7D50}" srcOrd="0" destOrd="0" presId="urn:microsoft.com/office/officeart/2005/8/layout/default"/>
    <dgm:cxn modelId="{FFBDE4A8-2C54-425C-8C0F-5C9DF2CF8507}" srcId="{127388B6-3AA5-4A17-B0F0-AF5AD3856E3B}" destId="{079543E6-DA1D-4EE3-A590-3B7388D7135E}" srcOrd="4" destOrd="0" parTransId="{B6776827-065A-47D4-ABC6-794F2785B3EC}" sibTransId="{0307BD27-BCD3-460B-BE38-ED9F927FFE85}"/>
    <dgm:cxn modelId="{B93C9EC1-06B4-4994-82BC-2DD6A194AB38}" type="presOf" srcId="{5180332A-16CF-40F8-9C9D-382303781BF7}" destId="{96E142EA-375F-42FD-A569-C9CA0A321513}" srcOrd="0" destOrd="0" presId="urn:microsoft.com/office/officeart/2005/8/layout/default"/>
    <dgm:cxn modelId="{ADBEBCC8-6184-4D5A-9883-598D2A4C0204}" srcId="{127388B6-3AA5-4A17-B0F0-AF5AD3856E3B}" destId="{644F682D-76A0-43E7-9177-070F54AE06C7}" srcOrd="0" destOrd="0" parTransId="{B70AFD3C-7E36-4452-9D44-52941F86BFA7}" sibTransId="{ABFCC5C4-7FF2-47E6-AD28-BDF5C01C6C8F}"/>
    <dgm:cxn modelId="{168890DE-71A2-4705-87B7-380DCF067D80}" srcId="{127388B6-3AA5-4A17-B0F0-AF5AD3856E3B}" destId="{6A12A3AD-2FEE-4E7E-95F4-DAE6E1E511E9}" srcOrd="3" destOrd="0" parTransId="{C3FC567E-3269-47D4-A1A8-298E7627255E}" sibTransId="{C832D090-64C5-4E6C-ACC6-999DC6329F8E}"/>
    <dgm:cxn modelId="{7F7618F2-1C96-4FFD-9500-9B1D8DD58F8B}" srcId="{127388B6-3AA5-4A17-B0F0-AF5AD3856E3B}" destId="{370D70BF-C80B-4DB5-8215-A628F9EEAB24}" srcOrd="5" destOrd="0" parTransId="{C5F6CD09-EE35-471B-94BB-C1960B611DF1}" sibTransId="{5D0F8D07-5306-46B5-ABAD-555D1ED26193}"/>
    <dgm:cxn modelId="{8AE825FA-9289-4571-913C-86739A4075E0}" type="presOf" srcId="{127388B6-3AA5-4A17-B0F0-AF5AD3856E3B}" destId="{657747E3-5F2D-47B3-86C0-A8422FD36E08}" srcOrd="0" destOrd="0" presId="urn:microsoft.com/office/officeart/2005/8/layout/default"/>
    <dgm:cxn modelId="{E08D74FE-621E-47D0-90A5-BF6A360BAE16}" srcId="{127388B6-3AA5-4A17-B0F0-AF5AD3856E3B}" destId="{85715FEF-22B8-49CB-BC62-2ACBFD9521E3}" srcOrd="2" destOrd="0" parTransId="{F74A96F7-31B8-462C-912D-CBD1F859D9BF}" sibTransId="{38523769-ADAD-4DE1-A733-5B4A7EBE8554}"/>
    <dgm:cxn modelId="{2B5D6A03-F511-4A3B-BAD5-BF5831289F82}" type="presParOf" srcId="{657747E3-5F2D-47B3-86C0-A8422FD36E08}" destId="{2C389A80-C004-40F6-B7F3-1E2C9D8B4439}" srcOrd="0" destOrd="0" presId="urn:microsoft.com/office/officeart/2005/8/layout/default"/>
    <dgm:cxn modelId="{BD21AB71-BBD3-4551-9E64-D044F84951AD}" type="presParOf" srcId="{657747E3-5F2D-47B3-86C0-A8422FD36E08}" destId="{17B1A03D-488D-4C6B-8306-8E1A62337BC0}" srcOrd="1" destOrd="0" presId="urn:microsoft.com/office/officeart/2005/8/layout/default"/>
    <dgm:cxn modelId="{A668EE41-0E55-451A-B2DC-9FFC95233937}" type="presParOf" srcId="{657747E3-5F2D-47B3-86C0-A8422FD36E08}" destId="{96E142EA-375F-42FD-A569-C9CA0A321513}" srcOrd="2" destOrd="0" presId="urn:microsoft.com/office/officeart/2005/8/layout/default"/>
    <dgm:cxn modelId="{68DC471E-248E-4940-8651-F6AE0ED6B3DB}" type="presParOf" srcId="{657747E3-5F2D-47B3-86C0-A8422FD36E08}" destId="{400840C5-E276-4CA1-A4F0-77AF83CB6C59}" srcOrd="3" destOrd="0" presId="urn:microsoft.com/office/officeart/2005/8/layout/default"/>
    <dgm:cxn modelId="{71495445-93EF-4720-8B2A-093983DC19F4}" type="presParOf" srcId="{657747E3-5F2D-47B3-86C0-A8422FD36E08}" destId="{A35653C1-65C8-4CA2-8640-51FE9F020BC6}" srcOrd="4" destOrd="0" presId="urn:microsoft.com/office/officeart/2005/8/layout/default"/>
    <dgm:cxn modelId="{27D52ED5-FBE1-4A70-8280-E8143DE348B6}" type="presParOf" srcId="{657747E3-5F2D-47B3-86C0-A8422FD36E08}" destId="{6A0EF164-3154-4638-9DB5-227D47B2D4AF}" srcOrd="5" destOrd="0" presId="urn:microsoft.com/office/officeart/2005/8/layout/default"/>
    <dgm:cxn modelId="{2B9F8A13-947C-4A5B-8354-FBB397E2858E}" type="presParOf" srcId="{657747E3-5F2D-47B3-86C0-A8422FD36E08}" destId="{5A1A706C-C872-4299-90E7-B9FAC8DA7599}" srcOrd="6" destOrd="0" presId="urn:microsoft.com/office/officeart/2005/8/layout/default"/>
    <dgm:cxn modelId="{E52B4C30-CF47-4087-A19F-E0FECC404C96}" type="presParOf" srcId="{657747E3-5F2D-47B3-86C0-A8422FD36E08}" destId="{C9BC19E0-8C56-42C2-9620-8D666E34A535}" srcOrd="7" destOrd="0" presId="urn:microsoft.com/office/officeart/2005/8/layout/default"/>
    <dgm:cxn modelId="{E16B56F4-F6D4-4845-AD2A-21E6DA206C88}" type="presParOf" srcId="{657747E3-5F2D-47B3-86C0-A8422FD36E08}" destId="{50375155-7CEC-405C-9008-D625E6E219DD}" srcOrd="8" destOrd="0" presId="urn:microsoft.com/office/officeart/2005/8/layout/default"/>
    <dgm:cxn modelId="{DF74AB4A-2AC5-4F54-96BE-F87EC9D18E73}" type="presParOf" srcId="{657747E3-5F2D-47B3-86C0-A8422FD36E08}" destId="{03520486-8EDB-43F0-BD8F-B2F741EDE74E}" srcOrd="9" destOrd="0" presId="urn:microsoft.com/office/officeart/2005/8/layout/default"/>
    <dgm:cxn modelId="{E2FC8EC8-2EC1-4BA1-893B-9AF2444D2FD0}" type="presParOf" srcId="{657747E3-5F2D-47B3-86C0-A8422FD36E08}" destId="{BC7E0311-2C66-4B14-BF6C-4451AEC47CA6}" srcOrd="10" destOrd="0" presId="urn:microsoft.com/office/officeart/2005/8/layout/default"/>
    <dgm:cxn modelId="{88503370-1B3B-4F94-9BE7-64A9189624D9}" type="presParOf" srcId="{657747E3-5F2D-47B3-86C0-A8422FD36E08}" destId="{FF68BAF4-F557-4501-BADD-960D0161C2CA}" srcOrd="11" destOrd="0" presId="urn:microsoft.com/office/officeart/2005/8/layout/default"/>
    <dgm:cxn modelId="{CD544890-30C6-4730-9D27-1538E1A95E86}" type="presParOf" srcId="{657747E3-5F2D-47B3-86C0-A8422FD36E08}" destId="{0C2E8021-B9DE-480B-8B70-34CF06CB7D50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389A80-C004-40F6-B7F3-1E2C9D8B4439}">
      <dsp:nvSpPr>
        <dsp:cNvPr id="0" name=""/>
        <dsp:cNvSpPr/>
      </dsp:nvSpPr>
      <dsp:spPr>
        <a:xfrm>
          <a:off x="364553" y="1331"/>
          <a:ext cx="2523504" cy="15141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solidFill>
                <a:schemeClr val="tx1"/>
              </a:solidFill>
              <a:latin typeface="Nunito Semi Bold" pitchFamily="34" charset="0"/>
              <a:ea typeface="Nunito Semi Bold" pitchFamily="34" charset="-122"/>
              <a:cs typeface="Nunito Semi Bold" pitchFamily="34" charset="-120"/>
            </a:rPr>
            <a:t>1. Project Overview &amp; Objective</a:t>
          </a:r>
          <a:endParaRPr lang="en-IN" sz="2700" kern="1200" dirty="0">
            <a:solidFill>
              <a:schemeClr val="tx1"/>
            </a:solidFill>
          </a:endParaRPr>
        </a:p>
      </dsp:txBody>
      <dsp:txXfrm>
        <a:off x="364553" y="1331"/>
        <a:ext cx="2523504" cy="1514102"/>
      </dsp:txXfrm>
    </dsp:sp>
    <dsp:sp modelId="{96E142EA-375F-42FD-A569-C9CA0A321513}">
      <dsp:nvSpPr>
        <dsp:cNvPr id="0" name=""/>
        <dsp:cNvSpPr/>
      </dsp:nvSpPr>
      <dsp:spPr>
        <a:xfrm>
          <a:off x="3140408" y="1331"/>
          <a:ext cx="2523504" cy="15141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solidFill>
                <a:schemeClr val="tx1"/>
              </a:solidFill>
              <a:latin typeface="Nunito Semi Bold" pitchFamily="34" charset="0"/>
              <a:ea typeface="Nunito Semi Bold" pitchFamily="34" charset="-122"/>
              <a:cs typeface="Nunito Semi Bold" pitchFamily="34" charset="-120"/>
            </a:rPr>
            <a:t>2. Data Cleaning and Modeling</a:t>
          </a:r>
          <a:endParaRPr lang="en-IN" sz="2700" kern="1200" dirty="0">
            <a:solidFill>
              <a:schemeClr val="tx1"/>
            </a:solidFill>
          </a:endParaRPr>
        </a:p>
      </dsp:txBody>
      <dsp:txXfrm>
        <a:off x="3140408" y="1331"/>
        <a:ext cx="2523504" cy="1514102"/>
      </dsp:txXfrm>
    </dsp:sp>
    <dsp:sp modelId="{A35653C1-65C8-4CA2-8640-51FE9F020BC6}">
      <dsp:nvSpPr>
        <dsp:cNvPr id="0" name=""/>
        <dsp:cNvSpPr/>
      </dsp:nvSpPr>
      <dsp:spPr>
        <a:xfrm>
          <a:off x="5916263" y="1331"/>
          <a:ext cx="2523504" cy="15141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solidFill>
                <a:schemeClr val="tx1"/>
              </a:solidFill>
              <a:latin typeface="Nunito Semi Bold" panose="020B0604020202020204" charset="0"/>
            </a:rPr>
            <a:t>3. KPI LIST</a:t>
          </a:r>
          <a:endParaRPr lang="en-IN" sz="2700" kern="1200" dirty="0">
            <a:solidFill>
              <a:schemeClr val="tx1"/>
            </a:solidFill>
            <a:latin typeface="Nunito Semi Bold" panose="020B0604020202020204" charset="0"/>
          </a:endParaRPr>
        </a:p>
      </dsp:txBody>
      <dsp:txXfrm>
        <a:off x="5916263" y="1331"/>
        <a:ext cx="2523504" cy="1514102"/>
      </dsp:txXfrm>
    </dsp:sp>
    <dsp:sp modelId="{5A1A706C-C872-4299-90E7-B9FAC8DA7599}">
      <dsp:nvSpPr>
        <dsp:cNvPr id="0" name=""/>
        <dsp:cNvSpPr/>
      </dsp:nvSpPr>
      <dsp:spPr>
        <a:xfrm>
          <a:off x="364553" y="1767784"/>
          <a:ext cx="2523504" cy="15141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solidFill>
                <a:schemeClr val="tx1"/>
              </a:solidFill>
              <a:latin typeface="Nunito Semi Bold" pitchFamily="34" charset="0"/>
              <a:ea typeface="Nunito Semi Bold" pitchFamily="34" charset="-122"/>
              <a:cs typeface="Nunito Semi Bold" pitchFamily="34" charset="-120"/>
            </a:rPr>
            <a:t>4. Dashboard Presentation</a:t>
          </a:r>
          <a:endParaRPr lang="en-US" sz="2700" kern="1200" dirty="0">
            <a:solidFill>
              <a:schemeClr val="tx1"/>
            </a:solidFill>
          </a:endParaRPr>
        </a:p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700" kern="1200" dirty="0">
            <a:solidFill>
              <a:schemeClr val="tx1"/>
            </a:solidFill>
          </a:endParaRPr>
        </a:p>
      </dsp:txBody>
      <dsp:txXfrm>
        <a:off x="364553" y="1767784"/>
        <a:ext cx="2523504" cy="1514102"/>
      </dsp:txXfrm>
    </dsp:sp>
    <dsp:sp modelId="{50375155-7CEC-405C-9008-D625E6E219DD}">
      <dsp:nvSpPr>
        <dsp:cNvPr id="0" name=""/>
        <dsp:cNvSpPr/>
      </dsp:nvSpPr>
      <dsp:spPr>
        <a:xfrm>
          <a:off x="3140408" y="1767784"/>
          <a:ext cx="2523504" cy="15141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solidFill>
                <a:schemeClr val="tx1"/>
              </a:solidFill>
              <a:latin typeface="Nunito Semi Bold" panose="020B0604020202020204" charset="0"/>
            </a:rPr>
            <a:t>5. Challenges Faced</a:t>
          </a:r>
          <a:endParaRPr lang="en-IN" sz="2700" kern="1200" dirty="0">
            <a:solidFill>
              <a:schemeClr val="tx1"/>
            </a:solidFill>
            <a:latin typeface="Nunito Semi Bold" panose="020B0604020202020204" charset="0"/>
          </a:endParaRPr>
        </a:p>
      </dsp:txBody>
      <dsp:txXfrm>
        <a:off x="3140408" y="1767784"/>
        <a:ext cx="2523504" cy="1514102"/>
      </dsp:txXfrm>
    </dsp:sp>
    <dsp:sp modelId="{BC7E0311-2C66-4B14-BF6C-4451AEC47CA6}">
      <dsp:nvSpPr>
        <dsp:cNvPr id="0" name=""/>
        <dsp:cNvSpPr/>
      </dsp:nvSpPr>
      <dsp:spPr>
        <a:xfrm>
          <a:off x="5916263" y="1767784"/>
          <a:ext cx="2523504" cy="15141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>
              <a:solidFill>
                <a:schemeClr val="tx1"/>
              </a:solidFill>
              <a:latin typeface="Nunito Semi Bold" panose="020B0604020202020204" charset="0"/>
            </a:rPr>
            <a:t>6. Solutions Implemented</a:t>
          </a:r>
        </a:p>
      </dsp:txBody>
      <dsp:txXfrm>
        <a:off x="5916263" y="1767784"/>
        <a:ext cx="2523504" cy="1514102"/>
      </dsp:txXfrm>
    </dsp:sp>
    <dsp:sp modelId="{0C2E8021-B9DE-480B-8B70-34CF06CB7D50}">
      <dsp:nvSpPr>
        <dsp:cNvPr id="0" name=""/>
        <dsp:cNvSpPr/>
      </dsp:nvSpPr>
      <dsp:spPr>
        <a:xfrm>
          <a:off x="3140408" y="3534237"/>
          <a:ext cx="2523504" cy="15141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700" kern="1200" dirty="0">
              <a:solidFill>
                <a:schemeClr val="tx1"/>
              </a:solidFill>
              <a:latin typeface="Nunito Semi Bold" panose="020B0604020202020204" charset="0"/>
            </a:rPr>
            <a:t>7. Conclusion</a:t>
          </a:r>
        </a:p>
      </dsp:txBody>
      <dsp:txXfrm>
        <a:off x="3140408" y="3534237"/>
        <a:ext cx="2523504" cy="15141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7D919E-7433-468A-B3F7-360AFF233834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37F470-C924-4D6A-AA36-10158AC87F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357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AF5B5-8A57-996D-3A2A-C33BBA0A76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97B184-A78A-95F6-D080-D1B1285BE1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E08589-A23A-3539-DC79-C5B9A8F7B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727EA-FCA5-4552-8E57-FD305E606D78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D7510C-12E2-F775-4829-2A1424C9A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DF65DB-BD00-0AFE-CBED-B05BF03D2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377D3-31A0-4E1B-964C-29F18C07A0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3946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14878-81E8-F9B6-E2B5-AADE45056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43613-F49F-3D39-3900-D49E410A2A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BE6053-459D-A591-9C78-353782DB5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727EA-FCA5-4552-8E57-FD305E606D78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658907-6D72-098F-91AD-8CBAC91EF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6663B4-14FC-A3DF-A298-74D5BD1D0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377D3-31A0-4E1B-964C-29F18C07A0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6908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C282D-E5CD-321D-A969-0508B102B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CAA844-656F-14DE-2514-606D070AF7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3472A8-0A45-9488-FB6A-AA1F5164B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727EA-FCA5-4552-8E57-FD305E606D78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B93D6A-AC91-1B74-8B7C-435B0C4C8C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BFD33C-807B-81BE-9DFB-E63B9425F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377D3-31A0-4E1B-964C-29F18C07A0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6419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3F54F-9EE9-75B1-26FF-437BAA84A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0F920-3949-CD55-EFCB-654E151F8F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26DDBF-E30C-B50E-C34F-7F23DD58A3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5369D9-82DE-D69C-58CE-01E8B9831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727EA-FCA5-4552-8E57-FD305E606D78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DF4D2-2294-3B32-070F-97E528953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1C3898-68DF-65FB-67CA-6C09D56C7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377D3-31A0-4E1B-964C-29F18C07A0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52687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FE877-CA3E-E567-5F9F-874230031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CA80E9-A292-6988-D931-DAF324038A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395E6B-9F16-FA44-AA70-802222A25A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BF9EFB-F8DE-8B16-30D0-67F717F64C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A17500-6202-B0A2-CA77-2794BFFD4D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CEF6294-26B3-8757-CA5A-7596BEA1E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727EA-FCA5-4552-8E57-FD305E606D78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30B4D0-7FF2-30AB-BEF9-ED895FC84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BFF5E2-9A50-EB19-E196-60AFC3334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377D3-31A0-4E1B-964C-29F18C07A0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001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F56C2-E867-9B3B-E7AA-505DA4D9C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21A7B1-6551-5C41-BFFE-B01E695B1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727EA-FCA5-4552-8E57-FD305E606D78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D0FA8E-33C6-C41B-5035-EDE6DA4D2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88A66F-62DB-6D4A-8F90-0BAE1BABE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377D3-31A0-4E1B-964C-29F18C07A0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8156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0911BA-35F8-E816-B015-B0B0378EA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727EA-FCA5-4552-8E57-FD305E606D78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66876D-EE2C-D488-DF39-B21D1B8B5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D7BF41-C3E5-2B46-FC1E-9464D38FD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377D3-31A0-4E1B-964C-29F18C07A0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5307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27D01-7C09-CA91-0CA5-C25482726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D6BF1-ABDF-10C8-7B0B-77E7C0B7CD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590D90-A8A6-6FDA-0C8D-A3FE713103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267A40-DB12-5AB9-BB07-C9C2C96DB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727EA-FCA5-4552-8E57-FD305E606D78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4CBC38-A62F-1039-3309-718BAA891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5E30B2-4B7C-5C2F-8ED7-E1B8AE41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377D3-31A0-4E1B-964C-29F18C07A0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7210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EE0AC-52F6-033F-BF90-EE995C29F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2E37FB-1142-E8AE-A2F8-1EA46E4512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64E8D5-4237-5AA7-8220-2AAF9A0925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5D1BD5-886F-6214-D3E6-261142FFD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727EA-FCA5-4552-8E57-FD305E606D78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7993A2-9909-C8B2-6F57-851744391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3539C5-A0F2-EA2A-AA7E-E7D0BBE74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377D3-31A0-4E1B-964C-29F18C07A0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306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4D184-210F-C65B-7491-B60958674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D613B3-8ADE-B536-E532-3191A5D800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D8FECB-BBC9-CF4F-070B-ECD44174F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727EA-FCA5-4552-8E57-FD305E606D78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3548E3-C4B2-891D-6259-466998635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108822-A150-5FCB-BCA1-10279BC39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377D3-31A0-4E1B-964C-29F18C07A0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4396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98F655-5DB5-8B02-496D-79CFAFAF08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1DA9B7-BFF6-3478-DF95-4494A86339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E329E1-DA00-8154-49C6-984E31BD6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727EA-FCA5-4552-8E57-FD305E606D78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667DA-DB4C-4DC8-A965-7289D1D32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7EB627-5974-F459-41A7-52096B059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377D3-31A0-4E1B-964C-29F18C07A0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87894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B8076-5E78-7855-7AF0-FAFBB05CDF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413CB5-DF31-5B6F-61E3-BEC5EA0D5F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781C3-9730-395A-8DC4-A6BA20186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EA899-1483-46C3-B15D-BCF4FD7B88EA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818803-8683-33A5-0A97-64BD413D0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E831A-36AC-88FB-F41C-9B12AE77F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F7935-7433-44AC-B528-7E6842682A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1954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7F672-6946-728B-E5DE-A9C18F962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AC3BDC-FA2E-C524-780C-90976B5EDA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A44640-04B2-A3E9-25D0-FF192B6EC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EA899-1483-46C3-B15D-BCF4FD7B88EA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1A2A4E-CAF5-91FB-1E8A-B9A9615B5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E5B14C-590E-AE16-26BA-6578DD81C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F7935-7433-44AC-B528-7E6842682A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92976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F4566-38A8-2CA6-BD01-0CE6E63A7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4398D8-C7E0-B473-985D-2212772E6A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1B3BBD-FF95-6F28-B2FB-58DD7B6D4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EA899-1483-46C3-B15D-BCF4FD7B88EA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D1B331-27F8-B357-94BE-1573F8BD6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A2988A-E4F6-E369-D78B-B188D201F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F7935-7433-44AC-B528-7E6842682A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03499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77E73-7FD9-C61D-7819-765498B26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BA599-556D-A9E6-E4DC-EB6647BD4C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9CBF9A-59C9-767A-0C96-E1B9455583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E7EFB2-48E9-BA1C-82A1-92DF993F8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EA899-1483-46C3-B15D-BCF4FD7B88EA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1C76DB-1B63-E7CE-C3EF-B31B20669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238EFD-8048-8C57-621F-F1B536833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F7935-7433-44AC-B528-7E6842682A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22264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3BBB8-78B9-4F49-A931-201912410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D1C160-5009-62BE-59DA-EDCD3EC327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FDD7D6-4E60-0DE3-71E7-A7F3134D28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23448D-2469-768B-2EFD-CD77FAE577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A003AD-BA15-6E4F-E0BE-E14BFBC57A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BD7ED2-13E4-8E1E-5232-C2276375A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EA899-1483-46C3-B15D-BCF4FD7B88EA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7DF398-D744-1D34-4544-5EFDA777E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8043DC-765E-9B33-4A55-38207FA3B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F7935-7433-44AC-B528-7E6842682A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52416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FAF7E-3430-9181-E02A-0DDCDDB9A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2DD240-6734-028C-09FF-4B9D7E32A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EA899-1483-46C3-B15D-BCF4FD7B88EA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0434A8-1834-1804-F6D5-E3F4B2ACF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C4D66A-4B4C-0206-EE35-A9BB96B17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F7935-7433-44AC-B528-7E6842682A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38779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BC020C-3EC3-1538-1526-6D61FF404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EA899-1483-46C3-B15D-BCF4FD7B88EA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CD4899-AF41-529A-C460-83D2DB5ED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E7C295-9552-A708-8A9B-DD8F3C31D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F7935-7433-44AC-B528-7E6842682A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5004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F44B2-26F4-8C3A-97A3-820571EC8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5849B-A2E5-1782-3AFF-89138BF5D3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6962F3-CCC0-0550-925C-4133911C04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9C66C7-788F-F9B9-0C9E-003F0C289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EA899-1483-46C3-B15D-BCF4FD7B88EA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F7C42-0D63-C132-0972-3615333CA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E5CAF2-3AE3-006F-1065-53AAE8B17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F7935-7433-44AC-B528-7E6842682A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10226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A8D87-8C78-B2DB-1549-21A436CA0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033E88-5638-170A-83DE-F9F9971192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49EF53-A067-F3E1-69F8-D2D55B4529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944692-05EA-DEEF-4897-797C8F4C2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EA899-1483-46C3-B15D-BCF4FD7B88EA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14754A-A672-EF79-8D3B-480DCABF1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5D2DEA-66D1-4E7C-658A-FF18AF535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F7935-7433-44AC-B528-7E6842682A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84842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233E6-3B30-6399-E35A-8EF7410B4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EBDD4B-B932-A5B6-E0EF-CB243973FF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DE2EE-D291-A752-C9AA-F86429742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EA899-1483-46C3-B15D-BCF4FD7B88EA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AF8F39-6985-BC3C-5360-17EAF1122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F2D76B-03BC-6686-D414-208B4DA7E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F7935-7433-44AC-B528-7E6842682A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82080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2647AA-B8C4-C6CB-D6DF-62C67C0189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010337-6D2B-309F-F84C-48319B6656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8E6CC-6E53-2F55-F16A-1FF606B35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AEA899-1483-46C3-B15D-BCF4FD7B88EA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2A6785-22C4-E42D-9D03-D85722813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409B34-4B57-1E98-2A44-FD4118453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DF7935-7433-44AC-B528-7E6842682A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2609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9690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62577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9630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85358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84796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76371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99010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48840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9346" y="6457950"/>
            <a:ext cx="1435504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2826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10" Type="http://schemas.openxmlformats.org/officeDocument/2006/relationships/theme" Target="../theme/theme3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8C7F6A-63B4-A6F1-84B2-9E752BFFC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E4B25E-C3E8-4187-5F4B-94BE5E2D83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288E87-6119-F9E4-B0E0-8C28F26438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C727EA-FCA5-4552-8E57-FD305E606D78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82A216-BFF1-D8D8-59DC-5D81AE318B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E8CB9-E5FF-5671-D028-768003B1B4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B377D3-31A0-4E1B-964C-29F18C07A0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0179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75000"/>
              </a:schemeClr>
            </a:gs>
            <a:gs pos="65000">
              <a:schemeClr val="accent1">
                <a:lumMod val="45000"/>
                <a:lumOff val="55000"/>
              </a:schemeClr>
            </a:gs>
            <a:gs pos="33000">
              <a:schemeClr val="accent1">
                <a:lumMod val="45000"/>
                <a:lumOff val="55000"/>
              </a:schemeClr>
            </a:gs>
            <a:gs pos="86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05664C-10A7-734A-A67F-89CD2021D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0A246E-9DB9-781D-F2C1-5B2595067C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217A8-F74A-B617-0792-E8348686AF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AEA899-1483-46C3-B15D-BCF4FD7B88EA}" type="datetimeFigureOut">
              <a:rPr lang="en-IN" smtClean="0"/>
              <a:t>31-05-2026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B81B9-3D59-E5A2-D7D6-C0F268FE23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9188F-0646-93DF-D5B6-49633F52B6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DF7935-7433-44AC-B528-7E6842682A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0410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75000"/>
              </a:schemeClr>
            </a:gs>
            <a:gs pos="65000">
              <a:schemeClr val="accent1">
                <a:lumMod val="45000"/>
                <a:lumOff val="55000"/>
              </a:schemeClr>
            </a:gs>
            <a:gs pos="33000">
              <a:schemeClr val="accent1">
                <a:lumMod val="45000"/>
                <a:lumOff val="55000"/>
              </a:schemeClr>
            </a:gs>
            <a:gs pos="86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0099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</p:sldLayoutIdLst>
  <p:hf sldNum="0" hdr="0" ftr="0" dt="0"/>
  <p:txStyles>
    <p:titleStyle>
      <a:lvl1pPr algn="ctr" defTabSz="761970" rtl="0" eaLnBrk="1" latinLnBrk="0" hangingPunct="1">
        <a:spcBef>
          <a:spcPct val="0"/>
        </a:spcBef>
        <a:buNone/>
        <a:defRPr sz="36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39" indent="-285739" algn="l" defTabSz="7619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19100" indent="-238115" algn="l" defTabSz="761970" rtl="0" eaLnBrk="1" latinLnBrk="0" hangingPunct="1">
        <a:spcBef>
          <a:spcPct val="20000"/>
        </a:spcBef>
        <a:buFont typeface="Arial" pitchFamily="34" charset="0"/>
        <a:buChar char="–"/>
        <a:defRPr sz="2333" kern="1200">
          <a:solidFill>
            <a:schemeClr val="tx1"/>
          </a:solidFill>
          <a:latin typeface="+mn-lt"/>
          <a:ea typeface="+mn-ea"/>
          <a:cs typeface="+mn-cs"/>
        </a:defRPr>
      </a:lvl2pPr>
      <a:lvl3pPr marL="952462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33447" indent="-190492" algn="l" defTabSz="761970" rtl="0" eaLnBrk="1" latinLnBrk="0" hangingPunct="1">
        <a:spcBef>
          <a:spcPct val="20000"/>
        </a:spcBef>
        <a:buFont typeface="Arial" pitchFamily="34" charset="0"/>
        <a:buChar char="–"/>
        <a:defRPr sz="1667" kern="1200">
          <a:solidFill>
            <a:schemeClr val="tx1"/>
          </a:solidFill>
          <a:latin typeface="+mn-lt"/>
          <a:ea typeface="+mn-ea"/>
          <a:cs typeface="+mn-cs"/>
        </a:defRPr>
      </a:lvl4pPr>
      <a:lvl5pPr marL="1714431" indent="-190492" algn="l" defTabSz="761970" rtl="0" eaLnBrk="1" latinLnBrk="0" hangingPunct="1">
        <a:spcBef>
          <a:spcPct val="20000"/>
        </a:spcBef>
        <a:buFont typeface="Arial" pitchFamily="34" charset="0"/>
        <a:buChar char="»"/>
        <a:defRPr sz="1667" kern="1200">
          <a:solidFill>
            <a:schemeClr val="tx1"/>
          </a:solidFill>
          <a:latin typeface="+mn-lt"/>
          <a:ea typeface="+mn-ea"/>
          <a:cs typeface="+mn-cs"/>
        </a:defRPr>
      </a:lvl5pPr>
      <a:lvl6pPr marL="2095416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6pPr>
      <a:lvl7pPr marL="2476401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7pPr>
      <a:lvl8pPr marL="2857386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8pPr>
      <a:lvl9pPr marL="3238370" indent="-190492" algn="l" defTabSz="761970" rtl="0" eaLnBrk="1" latinLnBrk="0" hangingPunct="1">
        <a:spcBef>
          <a:spcPct val="20000"/>
        </a:spcBef>
        <a:buFont typeface="Arial" pitchFamily="34" charset="0"/>
        <a:buChar char="•"/>
        <a:defRPr sz="1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80985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1970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4295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93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04924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85909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666893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47878" algn="l" defTabSz="76197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20.JPG"/><Relationship Id="rId4" Type="http://schemas.openxmlformats.org/officeDocument/2006/relationships/image" Target="../media/image19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23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26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29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F5573DB-D9CD-4058-4C94-431B9102A3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473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FD12D8B-71A2-46FB-9E5F-3C4F3B547CF0}"/>
              </a:ext>
            </a:extLst>
          </p:cNvPr>
          <p:cNvSpPr/>
          <p:nvPr/>
        </p:nvSpPr>
        <p:spPr>
          <a:xfrm>
            <a:off x="150125" y="177422"/>
            <a:ext cx="3070747" cy="846160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+mn-cs"/>
              </a:rPr>
              <a:t>Contents :-</a:t>
            </a:r>
            <a:endParaRPr kumimoji="0" lang="en-IN" sz="4000" b="0" i="1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697CB04F-3BE1-D219-7E7F-61CC3A45E471}"/>
              </a:ext>
            </a:extLst>
          </p:cNvPr>
          <p:cNvGraphicFramePr/>
          <p:nvPr/>
        </p:nvGraphicFramePr>
        <p:xfrm>
          <a:off x="1693839" y="1241946"/>
          <a:ext cx="8804322" cy="50496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06840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25C1A74-F9E0-1B04-1565-D445573350CB}"/>
              </a:ext>
            </a:extLst>
          </p:cNvPr>
          <p:cNvSpPr/>
          <p:nvPr/>
        </p:nvSpPr>
        <p:spPr>
          <a:xfrm>
            <a:off x="232012" y="245659"/>
            <a:ext cx="3807725" cy="76427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 Semi Bold" panose="020B0604020202020204" charset="0"/>
                <a:ea typeface="Nunito Semi Bold" pitchFamily="34" charset="-122"/>
                <a:cs typeface="Nunito Semi Bold" pitchFamily="34" charset="-120"/>
              </a:rPr>
              <a:t>Project Overview &amp; Objective</a:t>
            </a:r>
            <a:endParaRPr kumimoji="0" lang="en-IN" sz="2000" b="1" i="1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 Semi Bold" panose="020B0604020202020204" charset="0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58446F-27A4-4E8B-7DC8-C280AF12C335}"/>
              </a:ext>
            </a:extLst>
          </p:cNvPr>
          <p:cNvSpPr/>
          <p:nvPr/>
        </p:nvSpPr>
        <p:spPr>
          <a:xfrm>
            <a:off x="5049672" y="136476"/>
            <a:ext cx="6910316" cy="391008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  <a:defRPr/>
            </a:pPr>
            <a:r>
              <a:rPr kumimoji="0" lang="en-US" sz="14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uLnTx/>
                <a:uFillTx/>
                <a:latin typeface="Nunito Semi Bold" panose="020B0604020202020204"/>
                <a:ea typeface="Nunito Semi Bold" panose="020B0604020202020204"/>
                <a:cs typeface="Nunito Semi Bold" pitchFamily="34" charset="-120"/>
              </a:rPr>
              <a:t>Project Overview</a:t>
            </a:r>
            <a:endParaRPr kumimoji="0" lang="en-IN" sz="1400" b="1" i="0" u="sng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uLnTx/>
              <a:uFillTx/>
              <a:latin typeface="Nunito Semi Bold" panose="020B0604020202020204"/>
              <a:ea typeface="Nunito Semi Bold" panose="020B0604020202020204"/>
              <a:cs typeface="Times New Roman" panose="02020603050405020304" pitchFamily="18" charset="0"/>
            </a:endParaRPr>
          </a:p>
          <a:p>
            <a:pPr marL="171450" marR="0" lvl="0" indent="-171450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This project is based on HR Analytics using two datasets: 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HR_1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and 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HR_2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marL="171450" marR="0" lvl="0" indent="-171450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Both datasets were connected using the common column 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Employee_Number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marL="171450" marR="0" lvl="0" indent="-171450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The main objective of the project is to analyze employee attrition and workforce performance.</a:t>
            </a:r>
          </a:p>
          <a:p>
            <a:pPr marL="171450" marR="0" lvl="0" indent="-171450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The dashboard helps understand employee behavior, salary trends, promotion impact, and work-life balance.</a:t>
            </a:r>
          </a:p>
          <a:p>
            <a:pPr marL="171450" marR="0" lvl="0" indent="-171450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KPIs were created to track important HR metrics such as Attrition Rate, Average Income, Employee Age, and Working Years.</a:t>
            </a:r>
          </a:p>
          <a:p>
            <a:pPr marL="171450" marR="0" lvl="0" indent="-171450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Different charts and heatmaps were used to make insights easy to understand.</a:t>
            </a:r>
          </a:p>
          <a:p>
            <a:pPr marL="171450" marR="0" lvl="0" indent="-171450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The project helps HR teams make better decisions for employee retention and workforce planning.</a:t>
            </a:r>
            <a:endParaRPr kumimoji="0" lang="en-I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091EA6-F483-9FCC-5285-2859C48016D0}"/>
              </a:ext>
            </a:extLst>
          </p:cNvPr>
          <p:cNvSpPr/>
          <p:nvPr/>
        </p:nvSpPr>
        <p:spPr>
          <a:xfrm>
            <a:off x="5049672" y="4162567"/>
            <a:ext cx="6910315" cy="244977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2E"/>
              </a:solidFill>
              <a:effectLst/>
              <a:uLnTx/>
              <a:uFillTx/>
              <a:latin typeface="PT Sans" pitchFamily="34" charset="0"/>
              <a:ea typeface="PT Sans" pitchFamily="34" charset="-122"/>
              <a:cs typeface="PT Sans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sng" strike="noStrike" kern="1200" cap="none" spc="0" normalizeH="0" baseline="0" noProof="0" dirty="0">
                <a:ln>
                  <a:noFill/>
                </a:ln>
                <a:solidFill>
                  <a:srgbClr val="00002E"/>
                </a:solidFill>
                <a:effectLst/>
                <a:uLnTx/>
                <a:uFillTx/>
                <a:latin typeface="Nunito Semi Bold" panose="020B0604020202020204" charset="0"/>
                <a:ea typeface="Nunito Semi Bold" pitchFamily="34" charset="-122"/>
                <a:cs typeface="Nunito Semi Bold" pitchFamily="34" charset="-120"/>
              </a:rPr>
              <a:t>Team &amp; Timeline</a:t>
            </a: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2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PT Sans" pitchFamily="34" charset="-120"/>
              </a:rPr>
              <a:t>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2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PT Sans" pitchFamily="34" charset="-120"/>
              </a:rPr>
              <a:t>4-week project duration, evolving through various tools: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2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PT Sans" pitchFamily="34" charset="-120"/>
              </a:rPr>
              <a:t>Week 1: Excel for initial data exploration.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2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PT Sans" pitchFamily="34" charset="-120"/>
              </a:rPr>
              <a:t>Week 2: Tableau for initial modeling and visualization.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2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PT Sans" pitchFamily="34" charset="-120"/>
              </a:rPr>
              <a:t>Week 3: Powerbi and SQL for advanced analysis.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2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PT Sans" pitchFamily="34" charset="-120"/>
              </a:rPr>
              <a:t>Week 4: Final presentation preparation.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00002E"/>
              </a:solidFill>
              <a:effectLst/>
              <a:uLnTx/>
              <a:uFillTx/>
              <a:latin typeface="Nunito Semi Bold" panose="020B0604020202020204" charset="0"/>
              <a:ea typeface="PT Sans" pitchFamily="34" charset="-122"/>
              <a:cs typeface="PT Sans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sng" strike="noStrike" kern="1200" cap="none" spc="0" normalizeH="0" baseline="0" noProof="0" dirty="0">
                <a:ln>
                  <a:noFill/>
                </a:ln>
                <a:solidFill>
                  <a:srgbClr val="00002E"/>
                </a:solidFill>
                <a:effectLst/>
                <a:uLnTx/>
                <a:uFillTx/>
                <a:latin typeface="Nunito Semi Bold" panose="020B0604020202020204" charset="0"/>
                <a:ea typeface="PT Sans" pitchFamily="34" charset="-122"/>
                <a:cs typeface="PT Sans" pitchFamily="34" charset="-120"/>
              </a:rPr>
              <a:t>Key Goal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2E"/>
                </a:solidFill>
                <a:effectLst/>
                <a:uLnTx/>
                <a:uFillTx/>
                <a:latin typeface="Nunito Semi Bold" panose="020B0604020202020204" charset="0"/>
                <a:ea typeface="PT Sans" pitchFamily="34" charset="-122"/>
                <a:cs typeface="PT Sans" pitchFamily="34" charset="-120"/>
              </a:rPr>
              <a:t>: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2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PT Sans" pitchFamily="34" charset="-120"/>
              </a:rPr>
              <a:t>Ensure consistent Key Performance Indicators (KPIs) across all analytical tools used.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392C729-95ED-AB64-0A5F-68D5C7E291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12" y="1215899"/>
            <a:ext cx="4555141" cy="539644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328781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7856" y="576461"/>
            <a:ext cx="6606382" cy="527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761970" rtl="0" eaLnBrk="1" fontAlgn="auto" latinLnBrk="0" hangingPunct="1">
              <a:lnSpc>
                <a:spcPts val="412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92" b="1" i="0" u="sng" strike="noStrike" kern="1200" cap="none" spc="0" normalizeH="0" baseline="0" noProof="0" dirty="0">
                <a:ln>
                  <a:noFill/>
                </a:ln>
                <a:solidFill>
                  <a:srgbClr val="00002E"/>
                </a:solidFill>
                <a:effectLst/>
                <a:uLnTx/>
                <a:uFillTx/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Data Cleaning And Data Modeling</a:t>
            </a:r>
            <a:endParaRPr kumimoji="0" lang="en-US" sz="3292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56" y="1462882"/>
            <a:ext cx="5468144" cy="7175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07245" y="2359819"/>
            <a:ext cx="2110681" cy="263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761970" rtl="0" eaLnBrk="1" fontAlgn="auto" latinLnBrk="0" hangingPunct="1">
              <a:lnSpc>
                <a:spcPts val="204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25" b="1" i="0" u="sng" strike="noStrike" kern="1200" cap="none" spc="0" normalizeH="0" baseline="0" noProof="0" dirty="0">
                <a:ln>
                  <a:noFill/>
                </a:ln>
                <a:solidFill>
                  <a:srgbClr val="00002E"/>
                </a:solidFill>
                <a:effectLst/>
                <a:uLnTx/>
                <a:uFillTx/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Distributed Cleaning</a:t>
            </a:r>
            <a:endParaRPr kumimoji="0" lang="en-US" sz="1625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807245" y="2731095"/>
            <a:ext cx="5109369" cy="573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761970" rtl="0" eaLnBrk="1" fontAlgn="auto" latinLnBrk="0" hangingPunct="1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00002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PT Sans" pitchFamily="34" charset="-120"/>
              </a:rPr>
              <a:t>I am responsible for cleaning and modeling one specific dataset, ensuring thorough initial processing.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1" y="1462882"/>
            <a:ext cx="5468144" cy="7175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75388" y="2359819"/>
            <a:ext cx="2110681" cy="263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761970" rtl="0" eaLnBrk="1" fontAlgn="auto" latinLnBrk="0" hangingPunct="1">
              <a:lnSpc>
                <a:spcPts val="204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25" b="1" i="0" u="sng" strike="noStrike" kern="1200" cap="none" spc="0" normalizeH="0" baseline="0" noProof="0" dirty="0">
                <a:ln>
                  <a:noFill/>
                </a:ln>
                <a:solidFill>
                  <a:srgbClr val="00002E"/>
                </a:solidFill>
                <a:effectLst/>
                <a:uLnTx/>
                <a:uFillTx/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Rigorous Cleaning</a:t>
            </a:r>
            <a:endParaRPr kumimoji="0" lang="en-US" sz="1625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4"/>
          <p:cNvSpPr/>
          <p:nvPr/>
        </p:nvSpPr>
        <p:spPr>
          <a:xfrm>
            <a:off x="6275388" y="2731095"/>
            <a:ext cx="5109369" cy="573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761970" rtl="0" eaLnBrk="1" fontAlgn="auto" latinLnBrk="0" hangingPunct="1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00002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PT Sans" pitchFamily="34" charset="-120"/>
              </a:rPr>
              <a:t>Systematic removal of duplicates and comprehensive handling of missing values across all datasets to maintain data integrity.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856" y="3484364"/>
            <a:ext cx="5468144" cy="7175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7245" y="4381302"/>
            <a:ext cx="2110681" cy="263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761970" rtl="0" eaLnBrk="1" fontAlgn="auto" latinLnBrk="0" hangingPunct="1">
              <a:lnSpc>
                <a:spcPts val="204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25" b="1" i="0" u="sng" strike="noStrike" kern="1200" cap="none" spc="0" normalizeH="0" baseline="0" noProof="0" dirty="0">
                <a:ln>
                  <a:noFill/>
                </a:ln>
                <a:solidFill>
                  <a:srgbClr val="00002E"/>
                </a:solidFill>
                <a:effectLst/>
                <a:uLnTx/>
                <a:uFillTx/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Seamless Integration</a:t>
            </a:r>
            <a:endParaRPr kumimoji="0" lang="en-US" sz="1625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6"/>
          <p:cNvSpPr/>
          <p:nvPr/>
        </p:nvSpPr>
        <p:spPr>
          <a:xfrm>
            <a:off x="807245" y="4752578"/>
            <a:ext cx="5109369" cy="573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761970" rtl="0" eaLnBrk="1" fontAlgn="auto" latinLnBrk="0" hangingPunct="1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00002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PT Sans" pitchFamily="34" charset="-120"/>
              </a:rPr>
              <a:t>All individual sheets were meticulously merged into a single, cohesive master dataset, ready for unified analysis.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1" y="3484364"/>
            <a:ext cx="5468144" cy="7175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75388" y="4381302"/>
            <a:ext cx="2110681" cy="263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marR="0" lvl="0" indent="0" algn="l" defTabSz="761970" rtl="0" eaLnBrk="1" fontAlgn="auto" latinLnBrk="0" hangingPunct="1">
              <a:lnSpc>
                <a:spcPts val="2042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25" b="1" i="0" u="sng" strike="noStrike" kern="1200" cap="none" spc="0" normalizeH="0" baseline="0" noProof="0" dirty="0">
                <a:ln>
                  <a:noFill/>
                </a:ln>
                <a:solidFill>
                  <a:srgbClr val="00002E"/>
                </a:solidFill>
                <a:effectLst/>
                <a:uLnTx/>
                <a:uFillTx/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Standardized KPIs</a:t>
            </a:r>
            <a:endParaRPr kumimoji="0" lang="en-US" sz="1625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8"/>
          <p:cNvSpPr/>
          <p:nvPr/>
        </p:nvSpPr>
        <p:spPr>
          <a:xfrm>
            <a:off x="6275388" y="4752578"/>
            <a:ext cx="5109369" cy="573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761970" rtl="0" eaLnBrk="1" fontAlgn="auto" latinLnBrk="0" hangingPunct="1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00002E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PT Sans" pitchFamily="34" charset="-120"/>
              </a:rPr>
              <a:t>Implemented a unified set of KPIs, ensuring consistency and comparability across Power BI, Tableau, and SQL environments.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</p:txBody>
      </p:sp>
      <p:sp>
        <p:nvSpPr>
          <p:cNvPr id="15" name="Text 9"/>
          <p:cNvSpPr/>
          <p:nvPr/>
        </p:nvSpPr>
        <p:spPr>
          <a:xfrm>
            <a:off x="627856" y="5707657"/>
            <a:ext cx="10936288" cy="573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761970" rtl="0" eaLnBrk="1" fontAlgn="auto" latinLnBrk="0" hangingPunct="1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2E"/>
                </a:solidFill>
                <a:effectLst/>
                <a:uLnTx/>
                <a:uFillTx/>
                <a:latin typeface="Arial Rounded MT Bold" panose="020F0704030504030204" pitchFamily="34" charset="0"/>
                <a:ea typeface="PT Sans" pitchFamily="34" charset="-122"/>
                <a:cs typeface="PT Sans" pitchFamily="34" charset="-120"/>
              </a:rPr>
              <a:t>This structured approach to data preparation was crucial for building a reliable foundation for our subsequent analysis and dashboard development.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 Rounded MT Bold" panose="020F0704030504030204" pitchFamily="34" charset="0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440CA9E-221C-3A9D-8FB8-DBD10B38F2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38970" y="6252685"/>
            <a:ext cx="2453030" cy="57951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0E41EC2-8225-9B68-05DF-5219E2DD2B2D}"/>
              </a:ext>
            </a:extLst>
          </p:cNvPr>
          <p:cNvSpPr/>
          <p:nvPr/>
        </p:nvSpPr>
        <p:spPr>
          <a:xfrm>
            <a:off x="163775" y="204718"/>
            <a:ext cx="2565778" cy="62779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 Semi Bold" panose="020B0604020202020204" charset="0"/>
                <a:ea typeface="+mn-ea"/>
                <a:cs typeface="+mn-cs"/>
              </a:rPr>
              <a:t>KPI List</a:t>
            </a:r>
            <a:endParaRPr kumimoji="0" lang="en-IN" sz="3200" b="1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 Semi Bold" panose="020B0604020202020204" charset="0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96F675-D651-7B1A-FB44-23DE8C499DC2}"/>
              </a:ext>
            </a:extLst>
          </p:cNvPr>
          <p:cNvSpPr txBox="1"/>
          <p:nvPr/>
        </p:nvSpPr>
        <p:spPr>
          <a:xfrm>
            <a:off x="163775" y="1201003"/>
            <a:ext cx="10972800" cy="4001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en-US" sz="20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Total Employees = </a:t>
            </a:r>
            <a:r>
              <a:rPr kumimoji="0" lang="en-US" sz="19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50,000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endParaRPr kumimoji="0" lang="en-US" sz="19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en-US" sz="20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Attrition Rate = </a:t>
            </a:r>
            <a:r>
              <a:rPr kumimoji="0" lang="en-US" sz="19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50.21%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endParaRPr kumimoji="0" lang="en-US" sz="19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en-US" sz="20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Average Employee Age = </a:t>
            </a:r>
            <a:r>
              <a:rPr kumimoji="0" lang="en-US" sz="19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38.97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endParaRPr kumimoji="0" lang="en-US" sz="19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en-US" sz="20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Average Hourly Rate = </a:t>
            </a:r>
            <a:r>
              <a:rPr kumimoji="0" lang="en-US" sz="19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₹115.16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endParaRPr kumimoji="0" lang="en-US" sz="19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en-US" sz="20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Average Monthly Income = </a:t>
            </a:r>
            <a:r>
              <a:rPr kumimoji="0" lang="en-US" sz="19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₹26,016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endParaRPr kumimoji="0" lang="en-US" sz="19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en-US" sz="20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Average Working Years = </a:t>
            </a:r>
            <a:r>
              <a:rPr kumimoji="0" lang="en-US" sz="19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20.5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endParaRPr kumimoji="0" lang="en-US" sz="19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arenR"/>
              <a:tabLst/>
              <a:defRPr/>
            </a:pPr>
            <a:r>
              <a:rPr kumimoji="0" lang="en-US" sz="2000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Average Tenure (Years) = </a:t>
            </a:r>
            <a:r>
              <a:rPr kumimoji="0" lang="en-US" sz="19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10.77</a:t>
            </a:r>
            <a:endParaRPr kumimoji="0" lang="en-IN" sz="19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7372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4F918C0-7B9E-E6F1-34E8-4ECA12A802B2}"/>
              </a:ext>
            </a:extLst>
          </p:cNvPr>
          <p:cNvSpPr txBox="1"/>
          <p:nvPr/>
        </p:nvSpPr>
        <p:spPr>
          <a:xfrm>
            <a:off x="0" y="0"/>
            <a:ext cx="12191999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Times New Roman" panose="02020603050405020304" pitchFamily="18" charset="0"/>
              </a:rPr>
              <a:t>Excel Dashboard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CD0DF7-83AF-D155-F0D3-92E6A79C2A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4776"/>
            <a:ext cx="12191999" cy="627322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031185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1D2C854-EC91-0601-F967-8D9A0DA70BE3}"/>
              </a:ext>
            </a:extLst>
          </p:cNvPr>
          <p:cNvSpPr txBox="1"/>
          <p:nvPr/>
        </p:nvSpPr>
        <p:spPr>
          <a:xfrm>
            <a:off x="23447" y="0"/>
            <a:ext cx="12191999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 w="9525">
                  <a:solidFill>
                    <a:schemeClr val="tx1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Times New Roman" panose="02020603050405020304" pitchFamily="18" charset="0"/>
              </a:rPr>
              <a:t>Tableau Dashboard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A0F6F7-7789-D579-21DD-6CE38D2BB6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4775"/>
            <a:ext cx="12191999" cy="6273225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794803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460746A-BAF4-E367-EEC9-9249B545042A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solidFill>
                    <a:schemeClr val="tx1"/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Times New Roman" panose="02020603050405020304" pitchFamily="18" charset="0"/>
              </a:rPr>
              <a:t>Power BI Dashboard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31D91A-39ED-0AA3-AD19-7E14DC6CFE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84775"/>
            <a:ext cx="12192000" cy="6273225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688622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5E77AB-A8C6-07BD-78FE-B6F697CEE431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Rounded MT Bold" panose="020F0704030504030204" pitchFamily="34" charset="0"/>
                <a:ea typeface="+mn-ea"/>
                <a:cs typeface="Times New Roman" panose="02020603050405020304" pitchFamily="18" charset="0"/>
              </a:rPr>
              <a:t>MySQL Queries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72E392C-F458-7CCF-99B4-7B18C6A32C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080" y="1093549"/>
            <a:ext cx="4607636" cy="227671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1A05C85-C818-3136-5E03-77FAB11FB2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8284" y="1093549"/>
            <a:ext cx="4607636" cy="2276715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C5FA992-5AEC-D8A6-5A5E-AA3089AF37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6080" y="3879037"/>
            <a:ext cx="5314950" cy="2276714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24DE4EA-CF9A-52FA-3AFF-FB055E09B8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8284" y="3810721"/>
            <a:ext cx="4607636" cy="234503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624028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FB3C89-21AA-7AB9-579A-A32CE9A87E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712" y="322992"/>
            <a:ext cx="5012111" cy="2890856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C1B6AF1-E74E-0315-BA2E-6EB78B109B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9706" y="544044"/>
            <a:ext cx="4765581" cy="2306732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563271D-E747-C602-EC84-9760AD6B52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712" y="4075859"/>
            <a:ext cx="4877641" cy="2043336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34123BA-3D26-5F90-9751-425F3D2E58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7642" y="3834325"/>
            <a:ext cx="4877645" cy="2043336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637749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A8FCB2-1977-BFEF-31CB-17A7B06D12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249" y="253217"/>
            <a:ext cx="4746905" cy="333714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40EED4C-B805-E4D0-0495-E098ACC101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0845" y="300528"/>
            <a:ext cx="4746905" cy="328983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291022-12A1-C145-98ED-BF52E17ED9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6710" y="3762375"/>
            <a:ext cx="4746904" cy="302646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639247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BD48A0-9B62-9142-FB54-429BB1A6A4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675" y="288271"/>
            <a:ext cx="5041807" cy="3457575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97BA7E9-451D-5163-C1C0-66FCDE84A5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0118" y="278745"/>
            <a:ext cx="5575207" cy="3476625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EF152F-B3AB-0410-F6FF-B6192469C0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0229" y="3939989"/>
            <a:ext cx="5575206" cy="275860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41293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1A598E-FABA-ED04-71F4-8CA6F49B06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629" y="890867"/>
            <a:ext cx="5645523" cy="4908177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BCA5579-2165-B1E5-B140-55029CB211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1847" y="215153"/>
            <a:ext cx="5645524" cy="3025588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340899-B78E-2960-DBA2-2864252E77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1846" y="3344956"/>
            <a:ext cx="5645523" cy="344805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126049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4F1321-13F1-2971-C041-941B5F84BD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838" y="818869"/>
            <a:ext cx="5519478" cy="4840941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2CF218F-1E8D-42BD-FD5D-60F15C4587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5917" y="1471752"/>
            <a:ext cx="4507983" cy="3914495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345352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25C1A74-F9E0-1B04-1565-D445573350CB}"/>
              </a:ext>
            </a:extLst>
          </p:cNvPr>
          <p:cNvSpPr/>
          <p:nvPr/>
        </p:nvSpPr>
        <p:spPr>
          <a:xfrm>
            <a:off x="232012" y="245659"/>
            <a:ext cx="4097941" cy="76427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 Semi Bold" panose="020B0604020202020204" charset="0"/>
                <a:ea typeface="Nunito Semi Bold" pitchFamily="34" charset="-122"/>
                <a:cs typeface="Nunito Semi Bold" pitchFamily="34" charset="-120"/>
              </a:rPr>
              <a:t>Challenges Faced &amp; Solutions</a:t>
            </a:r>
            <a:endParaRPr kumimoji="0" lang="en-IN" sz="2000" b="1" i="1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 Semi Bold" panose="020B0604020202020204" charset="0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58446F-27A4-4E8B-7DC8-C280AF12C335}"/>
              </a:ext>
            </a:extLst>
          </p:cNvPr>
          <p:cNvSpPr/>
          <p:nvPr/>
        </p:nvSpPr>
        <p:spPr>
          <a:xfrm>
            <a:off x="5049672" y="136477"/>
            <a:ext cx="6910316" cy="329252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  <a:defRPr/>
            </a:pPr>
            <a:r>
              <a:rPr kumimoji="0" lang="en-US" sz="14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 Semi Bold" panose="020B0604020202020204" charset="0"/>
                <a:ea typeface="Nunito Semi Bold" pitchFamily="34" charset="-122"/>
                <a:cs typeface="Nunito Semi Bold" pitchFamily="34" charset="-120"/>
              </a:rPr>
              <a:t>Challenges Faced</a:t>
            </a:r>
          </a:p>
          <a:p>
            <a:pPr marL="171450" indent="-171450">
              <a:lnSpc>
                <a:spcPct val="107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Data was available in two separate Excel workbooks, so combining the data correctly was challenging.</a:t>
            </a:r>
          </a:p>
          <a:p>
            <a:pPr marL="171450" indent="-171450">
              <a:lnSpc>
                <a:spcPct val="107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Some columns needed proper relationships and joins using Employee_Number.</a:t>
            </a:r>
          </a:p>
          <a:p>
            <a:pPr marL="171450" indent="-171450">
              <a:lnSpc>
                <a:spcPct val="107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Large employee data made analysis and visualization slightly complex.</a:t>
            </a:r>
          </a:p>
          <a:p>
            <a:pPr marL="171450" indent="-171450">
              <a:lnSpc>
                <a:spcPct val="107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Attrition analysis across departments and income groups required proper grouping formulas.</a:t>
            </a:r>
          </a:p>
          <a:p>
            <a:pPr marL="171450" indent="-171450">
              <a:lnSpc>
                <a:spcPct val="107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Sorting income groups like 0–3k, 3k–6k, and 6k–9k correctly in charts was difficult.</a:t>
            </a:r>
          </a:p>
          <a:p>
            <a:pPr marL="171450" indent="-171450">
              <a:lnSpc>
                <a:spcPct val="107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Choosing the correct chart type for each KPI was challenging.</a:t>
            </a:r>
          </a:p>
          <a:p>
            <a:pPr marL="171450" indent="-171450">
              <a:lnSpc>
                <a:spcPct val="107000"/>
              </a:lnSpc>
              <a:spcAft>
                <a:spcPts val="800"/>
              </a:spcAft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Maintaining clean dashboard design while showing multiple insights together was difficult.</a:t>
            </a:r>
            <a:endParaRPr kumimoji="0" lang="en-IN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091EA6-F483-9FCC-5285-2859C48016D0}"/>
              </a:ext>
            </a:extLst>
          </p:cNvPr>
          <p:cNvSpPr/>
          <p:nvPr/>
        </p:nvSpPr>
        <p:spPr>
          <a:xfrm>
            <a:off x="5049672" y="3536577"/>
            <a:ext cx="6910316" cy="318494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/>
            </a:pPr>
            <a:r>
              <a:rPr kumimoji="0" lang="en-US" sz="1400" b="1" i="0" u="sng" strike="noStrike" kern="1200" cap="none" spc="0" normalizeH="0" baseline="0" noProof="0" dirty="0">
                <a:ln>
                  <a:noFill/>
                </a:ln>
                <a:solidFill>
                  <a:srgbClr val="00002E"/>
                </a:solidFill>
                <a:effectLst/>
                <a:uLnTx/>
                <a:uFillTx/>
                <a:latin typeface="Nunito Semi Bold" panose="020B0604020202020204" charset="0"/>
                <a:ea typeface="Nunito Semi Bold" pitchFamily="34" charset="-122"/>
                <a:cs typeface="Nunito Semi Bold" pitchFamily="34" charset="-120"/>
              </a:rPr>
              <a:t>Solutions Implemented</a:t>
            </a:r>
            <a:endParaRPr lang="en-US" sz="1400" u="sng" dirty="0">
              <a:solidFill>
                <a:srgbClr val="00002E"/>
              </a:solidFill>
              <a:latin typeface="Nunito Semi Bold" panose="020B0604020202020204" charset="0"/>
              <a:ea typeface="Nunito Semi Bold" pitchFamily="34" charset="-122"/>
              <a:cs typeface="Nunito Semi Bold" pitchFamily="34" charset="-120"/>
            </a:endParaRPr>
          </a:p>
          <a:p>
            <a:pPr>
              <a:defRPr/>
            </a:pP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Used 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Inner Join/Relationship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between HR_1 and HR_2 datasets using Employee_Number.</a:t>
            </a:r>
            <a:endParaRPr lang="en-US" sz="1200" b="1" u="sng" dirty="0">
              <a:solidFill>
                <a:srgbClr val="00002E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Created calculated fields such as Attrition Flag for accurate attrition calculation.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Used formulas to group Monthly Income into salary ranges for better analysis.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Built KPI cards to show important metrics clearly at the top of the dashboard.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Used bar charts to compare attrition across departments and income groups.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Used heatmap visualization to analyze Work-Life Balance by Job Role.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Applied filters for Gender, Department, and Job Role to make the dashboard interactive.</a:t>
            </a:r>
          </a:p>
          <a:p>
            <a:pPr marL="171450" indent="-171450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Organized the dashboard layout properly for better readability and presentation.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7E7D3B-FA25-65FA-1BC0-57DA3DC627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012" y="1142999"/>
            <a:ext cx="4577497" cy="557852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8532604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25C1A74-F9E0-1B04-1565-D445573350CB}"/>
              </a:ext>
            </a:extLst>
          </p:cNvPr>
          <p:cNvSpPr/>
          <p:nvPr/>
        </p:nvSpPr>
        <p:spPr>
          <a:xfrm>
            <a:off x="4192136" y="286001"/>
            <a:ext cx="3807725" cy="764275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1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 Semi Bold" panose="020B0604020202020204" charset="0"/>
                <a:ea typeface="Nunito Semi Bold" pitchFamily="34" charset="-122"/>
                <a:cs typeface="Nunito Semi Bold" pitchFamily="34" charset="-120"/>
              </a:rPr>
              <a:t>Conclusion</a:t>
            </a:r>
            <a:endParaRPr kumimoji="0" lang="en-IN" sz="3600" b="1" i="1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 Semi Bold" panose="020B0604020202020204" charset="0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58446F-27A4-4E8B-7DC8-C280AF12C335}"/>
              </a:ext>
            </a:extLst>
          </p:cNvPr>
          <p:cNvSpPr/>
          <p:nvPr/>
        </p:nvSpPr>
        <p:spPr>
          <a:xfrm>
            <a:off x="1514098" y="1526743"/>
            <a:ext cx="9163802" cy="38045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marR="0" lvl="0" indent="-28575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kumimoji="0" lang="en-US" sz="16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The HR Analytics dashboard successfully provides insights into employee attrition and workforce trends.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kumimoji="0" lang="en-US" sz="16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Research &amp; Development department showed the highest attrition rate.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kumimoji="0" lang="en-US" sz="16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Salary, promotion history, and work-life balance have an impact on employee attrition.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kumimoji="0" lang="en-US" sz="16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The dashboard helps identify departments and employee groups needing HR attention.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kumimoji="0" lang="en-US" sz="16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Interactive visuals make data analysis faster and easier.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kumimoji="0" lang="en-US" sz="16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This project improves decision-making for employee retention and workforce management.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  <a:defRPr/>
            </a:pPr>
            <a:r>
              <a:rPr kumimoji="0" lang="en-US" sz="16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Overall, the dashboard converts raw HR data into meaningful business insights.</a:t>
            </a:r>
            <a:endParaRPr kumimoji="0" lang="en-IN" sz="16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79375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2C77C36-7B86-27E6-73B2-5FF797CADD65}"/>
              </a:ext>
            </a:extLst>
          </p:cNvPr>
          <p:cNvSpPr/>
          <p:nvPr/>
        </p:nvSpPr>
        <p:spPr>
          <a:xfrm>
            <a:off x="3016623" y="2393576"/>
            <a:ext cx="6158753" cy="2070847"/>
          </a:xfrm>
          <a:prstGeom prst="roundRect">
            <a:avLst/>
          </a:prstGeom>
          <a:ln w="9525"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 Semi Bold" panose="02000000000000000000" charset="-120"/>
                <a:ea typeface="Nunito Semi Bold" panose="02000000000000000000" charset="-120"/>
                <a:cs typeface="Nunito Semi Bold" panose="02000000000000000000" charset="-120"/>
              </a:rPr>
              <a:t>THANK YOU</a:t>
            </a:r>
            <a:endParaRPr kumimoji="0" lang="en-IN" sz="5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 Semi Bold" panose="02000000000000000000" charset="-120"/>
              <a:ea typeface="Nunito Semi Bold" panose="02000000000000000000" charset="-120"/>
              <a:cs typeface="Nunito Semi Bold" panose="020000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779998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675</Words>
  <Application>Microsoft Office PowerPoint</Application>
  <PresentationFormat>Widescreen</PresentationFormat>
  <Paragraphs>84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Arial</vt:lpstr>
      <vt:lpstr>Arial Rounded MT Bold</vt:lpstr>
      <vt:lpstr>Calibri</vt:lpstr>
      <vt:lpstr>Calibri Light</vt:lpstr>
      <vt:lpstr>Nunito Semi Bold</vt:lpstr>
      <vt:lpstr>PT Sans</vt:lpstr>
      <vt:lpstr>Verdana</vt:lpstr>
      <vt:lpstr>Office Theme</vt:lpstr>
      <vt:lpstr>1_Office Theme</vt:lpstr>
      <vt:lpstr>2_Office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manpreetsingh7290@outlook.com</dc:creator>
  <cp:lastModifiedBy>K.R.ROHITH HEGADE</cp:lastModifiedBy>
  <cp:revision>4</cp:revision>
  <dcterms:created xsi:type="dcterms:W3CDTF">2026-05-23T10:37:59Z</dcterms:created>
  <dcterms:modified xsi:type="dcterms:W3CDTF">2026-05-31T18:12:28Z</dcterms:modified>
</cp:coreProperties>
</file>